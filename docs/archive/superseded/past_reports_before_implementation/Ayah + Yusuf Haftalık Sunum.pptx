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Slaytı taşımak için tıklayın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Notların biçimini düzenlemek için tıklayın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tr-T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FF75C0B-EA81-4C97-84B6-A274E23941AD}" type="slidenum">
              <a:rPr b="0" lang="tr-T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tr-TR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EEEB88-5644-4304-9E30-35E27C4CF33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tr-TR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AE06C9-9832-4BA6-B9D7-18D1C0BB10D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tr-T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Ana başlık metnini düzenlemek için tıklayın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Anahat metninin biçimini düzenlemek için tıklayın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İkinci Anahat Düzeyi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Üçüncü Anahat Düzeyi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tr-TR" sz="1400" spc="-1" strike="noStrike">
                <a:solidFill>
                  <a:srgbClr val="000000"/>
                </a:solidFill>
                <a:latin typeface="Arial"/>
              </a:rPr>
              <a:t>Dördüncü Anahat Düzeyi</a:t>
            </a: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Beşinci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Altıncı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tr-TR" sz="2000" spc="-1" strike="noStrike">
                <a:solidFill>
                  <a:srgbClr val="000000"/>
                </a:solidFill>
                <a:latin typeface="Arial"/>
              </a:rPr>
              <a:t>Yedinci Anahat Düzeyi</a:t>
            </a:r>
            <a:endParaRPr b="0" lang="tr-T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;p1"/>
          <p:cNvSpPr/>
          <p:nvPr/>
        </p:nvSpPr>
        <p:spPr>
          <a:xfrm>
            <a:off x="50292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Google Shape;17;p1"/>
          <p:cNvSpPr/>
          <p:nvPr/>
        </p:nvSpPr>
        <p:spPr>
          <a:xfrm>
            <a:off x="502920" y="65844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Embedding Model Comparison — X-CLIP vs VideoCLIP-XL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8;p1"/>
          <p:cNvSpPr/>
          <p:nvPr/>
        </p:nvSpPr>
        <p:spPr>
          <a:xfrm>
            <a:off x="502920" y="12985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7280"/>
                </a:solidFill>
                <a:latin typeface="Calibri"/>
                <a:ea typeface="Calibri"/>
              </a:rPr>
              <a:t>Same 20-video DiDeMo sample, 68 real queries with ground-truth video + time interval. 10-second fixed chunking, single T4 GPU.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" name="Google Shape;19;p1"/>
          <p:cNvGraphicFramePr/>
          <p:nvPr/>
        </p:nvGraphicFramePr>
        <p:xfrm>
          <a:off x="502920" y="1737360"/>
          <a:ext cx="7406280" cy="397728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</a:tblGrid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Metric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X-CLIP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VideoCLIP-XL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Embedding dimension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512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768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Chunks embedded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102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102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Embeddings file size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0.199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0.299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Avg. chunk embed time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1.450 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1.072 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Single-query embed time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29.49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35.17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Recall@1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39.71%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69.12%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Recall@5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58.82%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92.65%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Recall@10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67.65%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97.06%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Mean Reciprocal Rank (MRR)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0.5069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0.7845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</a:tbl>
          </a:graphicData>
        </a:graphic>
      </p:graphicFrame>
      <p:sp>
        <p:nvSpPr>
          <p:cNvPr id="12" name="Google Shape;20;p1"/>
          <p:cNvSpPr/>
          <p:nvPr/>
        </p:nvSpPr>
        <p:spPr>
          <a:xfrm>
            <a:off x="8321040" y="187452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+29 pts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Google Shape;21;p1"/>
          <p:cNvSpPr/>
          <p:nvPr/>
        </p:nvSpPr>
        <p:spPr>
          <a:xfrm>
            <a:off x="8321040" y="24048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Recall@1 gain with VideoCLIP-XL (40% → 69%)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Google Shape;22;p1"/>
          <p:cNvSpPr/>
          <p:nvPr/>
        </p:nvSpPr>
        <p:spPr>
          <a:xfrm>
            <a:off x="8321040" y="288036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1.5x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Google Shape;23;p1"/>
          <p:cNvSpPr/>
          <p:nvPr/>
        </p:nvSpPr>
        <p:spPr>
          <a:xfrm>
            <a:off x="8321040" y="341064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Larger vectors, but still a small storage cost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Google Shape;24;p1"/>
          <p:cNvSpPr/>
          <p:nvPr/>
        </p:nvSpPr>
        <p:spPr>
          <a:xfrm>
            <a:off x="8321040" y="388620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c39a"/>
                </a:solidFill>
                <a:latin typeface="Cambria"/>
                <a:ea typeface="Cambria"/>
              </a:rPr>
              <a:t>Faster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Google Shape;25;p1"/>
          <p:cNvSpPr/>
          <p:nvPr/>
        </p:nvSpPr>
        <p:spPr>
          <a:xfrm>
            <a:off x="8321040" y="44164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VideoCLIP-XL embedded chunks quicker despite being the larger model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Google Shape;26;p1"/>
          <p:cNvSpPr/>
          <p:nvPr/>
        </p:nvSpPr>
        <p:spPr>
          <a:xfrm>
            <a:off x="502920" y="598932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3272b"/>
                </a:solidFill>
                <a:latin typeface="Calibri"/>
                <a:ea typeface="Calibri"/>
              </a:rPr>
              <a:t>VideoCLIP-XL wins clearly on retrieval quality at a modest storage cost, and embeds faster — selected as the model carried forward into Study 2.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32;p2"/>
          <p:cNvSpPr/>
          <p:nvPr/>
        </p:nvSpPr>
        <p:spPr>
          <a:xfrm>
            <a:off x="50292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33;p2"/>
          <p:cNvSpPr/>
          <p:nvPr/>
        </p:nvSpPr>
        <p:spPr>
          <a:xfrm>
            <a:off x="502920" y="658440"/>
            <a:ext cx="1094292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Chunking Method Comparison: Fixed-Size vs Hierarchical Cascade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34;p2"/>
          <p:cNvSpPr/>
          <p:nvPr/>
        </p:nvSpPr>
        <p:spPr>
          <a:xfrm>
            <a:off x="502920" y="12985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b7280"/>
                </a:solidFill>
                <a:latin typeface="Calibri"/>
                <a:ea typeface="Calibri"/>
              </a:rPr>
              <a:t>Same sample and queries, VideoCLIP-XL throughout. Three methods compared: flat 10s chunks, a 4-stage cascade (whole-video → 15s → 7s → 3s), and overlapping 10s windows with 7s stride.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" name="Google Shape;35;p2"/>
          <p:cNvGraphicFramePr/>
          <p:nvPr/>
        </p:nvGraphicFramePr>
        <p:xfrm>
          <a:off x="502920" y="1737360"/>
          <a:ext cx="8860320" cy="2739240"/>
        </p:xfrm>
        <a:graphic>
          <a:graphicData uri="http://schemas.openxmlformats.org/drawingml/2006/table">
            <a:tbl>
              <a:tblPr/>
              <a:tblGrid>
                <a:gridCol w="3017520"/>
                <a:gridCol w="1947600"/>
                <a:gridCol w="1947600"/>
                <a:gridCol w="1947600"/>
              </a:tblGrid>
              <a:tr h="391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Metric</a:t>
                      </a:r>
                      <a:endParaRPr b="0" lang="tr-TR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Fixed-size (10s)</a:t>
                      </a:r>
                      <a:endParaRPr b="0" lang="tr-TR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5b6b8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Hierarchical cascade</a:t>
                      </a:r>
                      <a:endParaRPr b="0" lang="tr-TR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Overlapping (10s/7s)</a:t>
                      </a:r>
                      <a:endParaRPr b="0" lang="tr-TR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91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Chunks embedded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102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545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131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1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Embeddings file size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0.299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1.598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0.384 MB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391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Recall@1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69.12%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60.29%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70.59%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  <a:tr h="391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Recall@5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92.65%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91.18%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91.18%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391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Recall@10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97.06%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91.18%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97.06%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1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Mean Reciprocal Rank (MRR)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0.7845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0.7436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0.7934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</a:tbl>
          </a:graphicData>
        </a:graphic>
      </p:graphicFrame>
      <p:sp>
        <p:nvSpPr>
          <p:cNvPr id="23" name="Google Shape;36;p2"/>
          <p:cNvSpPr/>
          <p:nvPr/>
        </p:nvSpPr>
        <p:spPr>
          <a:xfrm>
            <a:off x="502920" y="4617720"/>
            <a:ext cx="8869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e2761"/>
                </a:solidFill>
                <a:latin typeface="Calibri"/>
                <a:ea typeface="Calibri"/>
              </a:rPr>
              <a:t>Stage Survival (hierarchical cascade) — correct video still a candidate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" name="Google Shape;37;p2"/>
          <p:cNvGraphicFramePr/>
          <p:nvPr/>
        </p:nvGraphicFramePr>
        <p:xfrm>
          <a:off x="502920" y="4919400"/>
          <a:ext cx="8869320" cy="640080"/>
        </p:xfrm>
        <a:graphic>
          <a:graphicData uri="http://schemas.openxmlformats.org/drawingml/2006/table">
            <a:tbl>
              <a:tblPr/>
              <a:tblGrid>
                <a:gridCol w="2217240"/>
                <a:gridCol w="2217240"/>
                <a:gridCol w="2217240"/>
                <a:gridCol w="2217240"/>
              </a:tblGrid>
              <a:tr h="320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whole_video</a:t>
                      </a:r>
                      <a:endParaRPr b="0" lang="tr-T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15s</a:t>
                      </a:r>
                      <a:endParaRPr b="0" lang="tr-T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7s</a:t>
                      </a:r>
                      <a:endParaRPr b="0" lang="tr-T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3s</a:t>
                      </a:r>
                      <a:endParaRPr b="0" lang="tr-T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100.00%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95.59%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95.59%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b3261e"/>
                          </a:solidFill>
                          <a:latin typeface="Calibri"/>
                          <a:ea typeface="Calibri"/>
                        </a:rPr>
                        <a:t>91.18%</a:t>
                      </a:r>
                      <a:endParaRPr b="0" lang="tr-T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Google Shape;38;p2"/>
          <p:cNvSpPr/>
          <p:nvPr/>
        </p:nvSpPr>
        <p:spPr>
          <a:xfrm>
            <a:off x="9692640" y="187452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c39a"/>
                </a:solidFill>
                <a:latin typeface="Cambria"/>
                <a:ea typeface="Cambria"/>
              </a:rPr>
              <a:t>Best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Google Shape;39;p2"/>
          <p:cNvSpPr/>
          <p:nvPr/>
        </p:nvSpPr>
        <p:spPr>
          <a:xfrm>
            <a:off x="9692640" y="24048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Overlapping wins Recall@1 and MRR, ties fixed on Recall@10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Google Shape;40;p2"/>
          <p:cNvSpPr/>
          <p:nvPr/>
        </p:nvSpPr>
        <p:spPr>
          <a:xfrm>
            <a:off x="9692640" y="288036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−</a:t>
            </a: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4.2x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Google Shape;41;p2"/>
          <p:cNvSpPr/>
          <p:nvPr/>
        </p:nvSpPr>
        <p:spPr>
          <a:xfrm>
            <a:off x="9692640" y="341064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Overlapping storage vs. the cascade, for better results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42;p2"/>
          <p:cNvSpPr/>
          <p:nvPr/>
        </p:nvSpPr>
        <p:spPr>
          <a:xfrm>
            <a:off x="9692640" y="3886200"/>
            <a:ext cx="2011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b3261e"/>
                </a:solidFill>
                <a:latin typeface="Cambria"/>
                <a:ea typeface="Cambria"/>
              </a:rPr>
              <a:t>−</a:t>
            </a:r>
            <a:r>
              <a:rPr b="1" lang="en-US" sz="3000" spc="-1" strike="noStrike">
                <a:solidFill>
                  <a:srgbClr val="b3261e"/>
                </a:solidFill>
                <a:latin typeface="Cambria"/>
                <a:ea typeface="Cambria"/>
              </a:rPr>
              <a:t>5x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43;p2"/>
          <p:cNvSpPr/>
          <p:nvPr/>
        </p:nvSpPr>
        <p:spPr>
          <a:xfrm>
            <a:off x="9692640" y="44164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Hierarchical cost vs. fixed — for worse recall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Google Shape;44;p2"/>
          <p:cNvSpPr/>
          <p:nvPr/>
        </p:nvSpPr>
        <p:spPr>
          <a:xfrm>
            <a:off x="502920" y="5715000"/>
            <a:ext cx="11155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3272b"/>
                </a:solidFill>
                <a:latin typeface="Calibri"/>
                <a:ea typeface="Calibri"/>
              </a:rPr>
              <a:t>Overlapping fixed-size (10s window, 7s stride) is the strongest option overall — beats plain fixed-size on Recall@1 and MRR, ties it on Recall@10, at a modest 1.3x storage cost. The hierarchical cascade remains weakest on every metric, </a:t>
            </a:r>
            <a:r>
              <a:rPr b="0" lang="en-US" sz="1200" spc="-1" strike="noStrike">
                <a:solidFill>
                  <a:srgbClr val="23272b"/>
                </a:solidFill>
                <a:latin typeface="Calibri"/>
                <a:ea typeface="Calibri"/>
              </a:rPr>
              <a:t>at only 20 candidate videos there's nothing expensive to save by filtering early, so this setup only shows the cascade's downside, not its intended benefit at larger scale.</a:t>
            </a:r>
            <a:endParaRPr b="0" lang="tr-T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6;p1"/>
          <p:cNvSpPr/>
          <p:nvPr/>
        </p:nvSpPr>
        <p:spPr>
          <a:xfrm>
            <a:off x="502920" y="36576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tr-T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17;p1"/>
          <p:cNvSpPr/>
          <p:nvPr/>
        </p:nvSpPr>
        <p:spPr>
          <a:xfrm>
            <a:off x="502920" y="65844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Hybrid Query Pipeline — Measured Speed &amp; Accuracy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8;p1"/>
          <p:cNvSpPr/>
          <p:nvPr/>
        </p:nvSpPr>
        <p:spPr>
          <a:xfrm>
            <a:off x="502920" y="1298520"/>
            <a:ext cx="1115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7280"/>
                </a:solidFill>
                <a:latin typeface="Calibri"/>
                <a:ea typeface="Calibri"/>
              </a:rPr>
              <a:t>Separate 6-video / 95-chunk corpus. Self-retrieval proxy metric (N=8). Ollama query parsing (CPU) + ClickHouse hybrid search, GT1030 4GB.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" name="Google Shape;19;p1"/>
          <p:cNvGraphicFramePr/>
          <p:nvPr/>
        </p:nvGraphicFramePr>
        <p:xfrm>
          <a:off x="502920" y="1737360"/>
          <a:ext cx="7406280" cy="3977280"/>
        </p:xfrm>
        <a:graphic>
          <a:graphicData uri="http://schemas.openxmlformats.org/drawingml/2006/table">
            <a:tbl>
              <a:tblPr/>
              <a:tblGrid>
                <a:gridCol w="3749040"/>
                <a:gridCol w="1828800"/>
                <a:gridCol w="1828800"/>
              </a:tblGrid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Metric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X-CLIP (512d)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VideoCLIP-XL (768d)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LLM query parsing (Ollama, CPU)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13.8 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13.8 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Query embedding (warm)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80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229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ClickHouse hybrid search (95 chunks)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57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57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Interval merge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&lt;1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&lt;1 ms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Total query latency (warm)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~13.9 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~14.1 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Storage / chunk (measured)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2125 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3124 B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Recall@1 (self-retrieval, N=8)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12.5%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25.0%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Recall@5 (self-retrieval, N=8)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62.5%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75.0%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  <a:tr h="397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Mean rank (of 95)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9.2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</a:rPr>
                        <a:t>4.8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e6f5f1"/>
                    </a:solidFill>
                  </a:tcPr>
                </a:tc>
              </a:tr>
            </a:tbl>
          </a:graphicData>
        </a:graphic>
      </p:graphicFrame>
      <p:sp>
        <p:nvSpPr>
          <p:cNvPr id="36" name="Google Shape;20;p1"/>
          <p:cNvSpPr/>
          <p:nvPr/>
        </p:nvSpPr>
        <p:spPr>
          <a:xfrm>
            <a:off x="8321040" y="187452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57 ms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Google Shape;21;p1"/>
          <p:cNvSpPr/>
          <p:nvPr/>
        </p:nvSpPr>
        <p:spPr>
          <a:xfrm>
            <a:off x="8321040" y="24048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ClickHouse hybrid query (filter + vector, single call) — negligible vs. the LLM step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22;p1"/>
          <p:cNvSpPr/>
          <p:nvPr/>
        </p:nvSpPr>
        <p:spPr>
          <a:xfrm>
            <a:off x="8321040" y="288036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99%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23;p1"/>
          <p:cNvSpPr/>
          <p:nvPr/>
        </p:nvSpPr>
        <p:spPr>
          <a:xfrm>
            <a:off x="8321040" y="341064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of total query latency is CPU-bound LLM parsing — not the hybrid search itself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24;p1"/>
          <p:cNvSpPr/>
          <p:nvPr/>
        </p:nvSpPr>
        <p:spPr>
          <a:xfrm>
            <a:off x="8321040" y="388620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c39a"/>
                </a:solidFill>
                <a:latin typeface="Cambria"/>
                <a:ea typeface="Cambria"/>
              </a:rPr>
              <a:t>+12.5 pts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Google Shape;25;p1"/>
          <p:cNvSpPr/>
          <p:nvPr/>
        </p:nvSpPr>
        <p:spPr>
          <a:xfrm>
            <a:off x="8321040" y="44164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Recall@1 gain with VideoCLIP-XL over X-CLIP, same hybrid pipeline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26;p1"/>
          <p:cNvSpPr/>
          <p:nvPr/>
        </p:nvSpPr>
        <p:spPr>
          <a:xfrm>
            <a:off x="502920" y="598932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3272b"/>
                </a:solidFill>
                <a:latin typeface="Calibri"/>
                <a:ea typeface="Calibri"/>
              </a:rPr>
              <a:t>The hybrid query itself is fast and effectively free (~57 ms regardless of filter count); today's bottleneck is CPU-bound LLM parsing (~13.8 s), a driver/hardware limitation of this test rig (Ollama CUDA build needs driver 570+, host has 560.94) — not a property of the hybrid design.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502920" y="658440"/>
            <a:ext cx="11155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e2761"/>
                </a:solidFill>
                <a:latin typeface="Cambria"/>
                <a:ea typeface="Cambria"/>
              </a:rPr>
              <a:t>Hybrid vs. Standard Architecture — Structural Advantages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02920" y="1298520"/>
            <a:ext cx="1115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b7280"/>
                </a:solidFill>
                <a:latin typeface="Calibri"/>
                <a:ea typeface="Calibri"/>
              </a:rPr>
              <a:t>Standard = single vector database, semantic-only. Hybrid = structured filter + vector similarity in one ClickHouse query (this project's design).</a:t>
            </a:r>
            <a:endParaRPr b="0" lang="tr-TR" sz="12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5" name="Table 0"/>
          <p:cNvGraphicFramePr/>
          <p:nvPr/>
        </p:nvGraphicFramePr>
        <p:xfrm>
          <a:off x="502920" y="1737360"/>
          <a:ext cx="7543440" cy="3017520"/>
        </p:xfrm>
        <a:graphic>
          <a:graphicData uri="http://schemas.openxmlformats.org/drawingml/2006/table">
            <a:tbl>
              <a:tblPr/>
              <a:tblGrid>
                <a:gridCol w="2331720"/>
                <a:gridCol w="2697480"/>
                <a:gridCol w="25146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Capability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Standard (vector-only)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Hybrid (this project)</a:t>
                      </a:r>
                      <a:endParaRPr b="0" lang="tr-T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Deterministic constraints (speed, altitude, time)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Left to embedding — probabilistic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ClickHouse WHERE — exact match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Filter + vector in one query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Separate DB, pre/post-filter dilemma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Same row, single ClickHouse query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Concept not in schema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Falls back to semantic-only, no hard failure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Result shape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Raw top-k chunks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23272b"/>
                          </a:solidFill>
                          <a:latin typeface="Calibri"/>
                          <a:ea typeface="Calibri"/>
                        </a:rPr>
                        <a:t>Interval-merged, continuous time ranges</a:t>
                      </a:r>
                      <a:endParaRPr b="0" lang="tr-T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ddddd"/>
                      </a:solidFill>
                      <a:prstDash val="solid"/>
                    </a:lnL>
                    <a:lnR w="9360">
                      <a:solidFill>
                        <a:srgbClr val="dddddd"/>
                      </a:solidFill>
                      <a:prstDash val="solid"/>
                    </a:lnR>
                    <a:lnT w="9360">
                      <a:solidFill>
                        <a:srgbClr val="dddddd"/>
                      </a:solidFill>
                      <a:prstDash val="solid"/>
                    </a:lnT>
                    <a:lnB w="9360">
                      <a:solidFill>
                        <a:srgbClr val="dddddd"/>
                      </a:solidFill>
                      <a:prstDash val="solid"/>
                    </a:lnB>
                    <a:solidFill>
                      <a:srgbClr val="f4f7f7"/>
                    </a:solidFill>
                  </a:tcPr>
                </a:tc>
              </a:tr>
            </a:tbl>
          </a:graphicData>
        </a:graphic>
      </p:graphicFrame>
      <p:sp>
        <p:nvSpPr>
          <p:cNvPr id="46" name="Text 2"/>
          <p:cNvSpPr/>
          <p:nvPr/>
        </p:nvSpPr>
        <p:spPr>
          <a:xfrm>
            <a:off x="8321040" y="173736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8090"/>
                </a:solidFill>
                <a:latin typeface="Cambria"/>
                <a:ea typeface="Cambria"/>
              </a:rPr>
              <a:t>0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8321040" y="230436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Separate vector-DB joins needed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Filter + vector combined in one ClickHouse row — no pre/post-filter dilemma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8321040" y="306324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2c39a"/>
                </a:solidFill>
                <a:latin typeface="Cambria"/>
                <a:ea typeface="Cambria"/>
              </a:rPr>
              <a:t>57 ms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8321040" y="363024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Measured — this session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Combined filter+vector ClickHouse query, 95 chunks — no added cost from filters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8321040" y="452628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6b7280"/>
                </a:solidFill>
                <a:latin typeface="Cambria"/>
                <a:ea typeface="Cambria"/>
              </a:rPr>
              <a:t>Deterministic</a:t>
            </a:r>
            <a:endParaRPr b="0" lang="tr-T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321040" y="509328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Design property, not benchmarked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alibri"/>
                <a:ea typeface="Calibri"/>
              </a:rPr>
              <a:t>Structured filters return exact matches, not probabilistic rankings</a:t>
            </a:r>
            <a:endParaRPr b="0" lang="tr-T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02920" y="598932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23272b"/>
                </a:solidFill>
                <a:latin typeface="Calibri"/>
                <a:ea typeface="Calibri"/>
              </a:rPr>
              <a:t>Real telemetry data doesn't exist yet in this corpus, so the accuracy contribution of structured filtering is unmeasured (TELEMETRY_FILTERS_ENABLED=False) — but its architectural cost is negligible: the same ClickHouse query runs at the same speed whether filters are active or not.</a:t>
            </a:r>
            <a:endParaRPr b="0" lang="tr-T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LibreOffice/24.2.2.2$Windows_X86_64 LibreOffice_project/d56cc158d8a96260b836f100ef4b4ef25d6f1a01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2026-07-23T16:26:17Z</dcterms:created>
  <dc:creator>PptxGenJS</dc:creator>
  <dc:description/>
  <dc:language>tr-TR</dc:language>
  <cp:lastModifiedBy/>
  <dcterms:modified xsi:type="dcterms:W3CDTF">2026-07-24T10:00:23Z</dcterms:modified>
  <cp:revision>1</cp:revision>
  <dc:subject/>
  <dc:title/>
</cp:coreProperties>
</file>